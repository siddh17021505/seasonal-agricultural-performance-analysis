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8395" y="3478450"/>
            <a:ext cx="4043058" cy="1097391"/>
          </a:xfrm>
        </p:spPr>
        <p:txBody>
          <a:bodyPr vert="horz" lIns="91440" tIns="45720" rIns="91440" bIns="45720" rtlCol="0" anchor="t">
            <a:noAutofit/>
          </a:bodyPr>
          <a:lstStyle/>
          <a:p>
            <a:pPr algn="r"/>
            <a:r>
              <a:rPr lang="en-US" sz="1600" dirty="0">
                <a:solidFill>
                  <a:schemeClr val="tx1"/>
                </a:solidFill>
                <a:latin typeface="Times New Roman" panose="02020603050405020304" pitchFamily="18" charset="0"/>
                <a:cs typeface="Times New Roman" panose="02020603050405020304" pitchFamily="18" charset="0"/>
              </a:rPr>
              <a:t>Presented By :- Siddhant Rajesh Raut</a:t>
            </a:r>
          </a:p>
          <a:p>
            <a:pPr algn="r"/>
            <a:r>
              <a:rPr lang="en-US" sz="1600" dirty="0">
                <a:solidFill>
                  <a:schemeClr val="tx1"/>
                </a:solidFill>
                <a:latin typeface="Times New Roman" panose="02020603050405020304" pitchFamily="18" charset="0"/>
                <a:cs typeface="Times New Roman" panose="02020603050405020304" pitchFamily="18" charset="0"/>
              </a:rPr>
              <a:t>College :-  Institute of management  research and development </a:t>
            </a:r>
            <a:r>
              <a:rPr lang="en-US" sz="1600" dirty="0" err="1">
                <a:solidFill>
                  <a:schemeClr val="tx1"/>
                </a:solidFill>
                <a:latin typeface="Times New Roman" panose="02020603050405020304" pitchFamily="18" charset="0"/>
                <a:cs typeface="Times New Roman" panose="02020603050405020304" pitchFamily="18" charset="0"/>
              </a:rPr>
              <a:t>shirpur</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5672" y="2872106"/>
            <a:ext cx="4998720" cy="743448"/>
          </a:xfrm>
        </p:spPr>
        <p:txBody>
          <a:bodyPr>
            <a:normAutofit/>
          </a:bodyPr>
          <a:lstStyle/>
          <a:p>
            <a:r>
              <a:rPr lang="en-GB" sz="3200" dirty="0">
                <a:latin typeface="Times New Roman" panose="02020603050405020304" pitchFamily="18" charset="0"/>
                <a:cs typeface="Times New Roman" panose="02020603050405020304" pitchFamily="18" charset="0"/>
              </a:rPr>
              <a:t>Project Title -</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98771" y="4445212"/>
            <a:ext cx="3176362" cy="615553"/>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AICTE STU ID :-   STU6a63a09a3c0861784914074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10000"/>
          </a:bodyPr>
          <a:lstStyle/>
          <a:p>
            <a:r>
              <a:rPr lang="en-IN" sz="2400" dirty="0">
                <a:latin typeface="Times New Roman" panose="02020603050405020304" pitchFamily="18" charset="0"/>
                <a:cs typeface="Times New Roman" panose="02020603050405020304" pitchFamily="18" charset="0"/>
              </a:rPr>
              <a:t>Agricultural performance varies across different seasons due to changes in environmental conditions, water availability, irrigation methods and crop characteristics. It is difficult to understand which season, crop or region performs better without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agricultural data.</a:t>
            </a:r>
          </a:p>
          <a:p>
            <a:r>
              <a:rPr lang="en-IN" sz="2400" dirty="0">
                <a:latin typeface="Times New Roman" panose="02020603050405020304" pitchFamily="18" charset="0"/>
                <a:cs typeface="Times New Roman" panose="02020603050405020304" pitchFamily="18" charset="0"/>
              </a:rPr>
              <a:t>This project focuses on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agricultural data to identify seasonal patterns and compare </a:t>
            </a:r>
            <a:r>
              <a:rPr lang="en-IN" sz="2400" b="1" dirty="0">
                <a:latin typeface="Times New Roman" panose="02020603050405020304" pitchFamily="18" charset="0"/>
                <a:cs typeface="Times New Roman" panose="02020603050405020304" pitchFamily="18" charset="0"/>
              </a:rPr>
              <a:t>yield, production, revenue and profit</a:t>
            </a:r>
            <a:r>
              <a:rPr lang="en-IN" sz="2400" dirty="0">
                <a:latin typeface="Times New Roman" panose="02020603050405020304" pitchFamily="18" charset="0"/>
                <a:cs typeface="Times New Roman" panose="02020603050405020304" pitchFamily="18" charset="0"/>
              </a:rPr>
              <a:t> across different seasons</a:t>
            </a:r>
            <a:r>
              <a:rPr lang="en-IN" sz="2800" dirty="0"/>
              <a:t>.</a:t>
            </a:r>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pPr algn="ctr"/>
            <a:r>
              <a:rPr lang="en-GB" sz="4000" dirty="0">
                <a:latin typeface="Times New Roman" panose="02020603050405020304" pitchFamily="18" charset="0"/>
                <a:cs typeface="Times New Roman" panose="02020603050405020304" pitchFamily="18" charset="0"/>
              </a:rPr>
              <a:t>Project Description</a:t>
            </a:r>
            <a:br>
              <a:rPr lang="en-GB"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itle 3">
            <a:extLst>
              <a:ext uri="{FF2B5EF4-FFF2-40B4-BE49-F238E27FC236}">
                <a16:creationId xmlns:a16="http://schemas.microsoft.com/office/drawing/2014/main" id="{0DC27A89-596B-DED6-E5D5-E04CFEAC4846}"/>
              </a:ext>
            </a:extLst>
          </p:cNvPr>
          <p:cNvSpPr txBox="1">
            <a:spLocks/>
          </p:cNvSpPr>
          <p:nvPr/>
        </p:nvSpPr>
        <p:spPr>
          <a:xfrm>
            <a:off x="754602" y="550417"/>
            <a:ext cx="6995604" cy="790111"/>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dirty="0"/>
          </a:p>
        </p:txBody>
      </p:sp>
      <p:sp>
        <p:nvSpPr>
          <p:cNvPr id="4" name="TextBox 3">
            <a:extLst>
              <a:ext uri="{FF2B5EF4-FFF2-40B4-BE49-F238E27FC236}">
                <a16:creationId xmlns:a16="http://schemas.microsoft.com/office/drawing/2014/main" id="{B547216E-4BB7-A783-4B1B-C63DB58FA608}"/>
              </a:ext>
            </a:extLst>
          </p:cNvPr>
          <p:cNvSpPr txBox="1"/>
          <p:nvPr/>
        </p:nvSpPr>
        <p:spPr>
          <a:xfrm>
            <a:off x="1076325" y="1697669"/>
            <a:ext cx="8608381" cy="5293757"/>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Seasonal Agriculture Performance Analysis</a:t>
            </a:r>
            <a:r>
              <a:rPr lang="en-IN" sz="2000" dirty="0">
                <a:latin typeface="Times New Roman" panose="02020603050405020304" pitchFamily="18" charset="0"/>
                <a:cs typeface="Times New Roman" panose="02020603050405020304" pitchFamily="18" charset="0"/>
              </a:rPr>
              <a:t> project is based on Exploratory Data Analysis using Python.</a:t>
            </a:r>
          </a:p>
          <a:p>
            <a:r>
              <a:rPr lang="en-IN" sz="2000" dirty="0">
                <a:latin typeface="Times New Roman" panose="02020603050405020304" pitchFamily="18" charset="0"/>
                <a:cs typeface="Times New Roman" panose="02020603050405020304" pitchFamily="18" charset="0"/>
              </a:rPr>
              <a:t>The project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agricultural data containing information about crops, seasons, states, environmental conditions, irrigation methods, yield, production, revenue and profit.</a:t>
            </a:r>
          </a:p>
          <a:p>
            <a:r>
              <a:rPr lang="en-IN" sz="2000" dirty="0">
                <a:latin typeface="Times New Roman" panose="02020603050405020304" pitchFamily="18" charset="0"/>
                <a:cs typeface="Times New Roman" panose="02020603050405020304" pitchFamily="18" charset="0"/>
              </a:rPr>
              <a:t>The main objective is to compare the agricultural performance of </a:t>
            </a:r>
            <a:r>
              <a:rPr lang="en-IN" sz="2000" b="1" dirty="0">
                <a:latin typeface="Times New Roman" panose="02020603050405020304" pitchFamily="18" charset="0"/>
                <a:cs typeface="Times New Roman" panose="02020603050405020304" pitchFamily="18" charset="0"/>
              </a:rPr>
              <a:t>Kharif, Rabi and Zaid seasons</a:t>
            </a:r>
            <a:r>
              <a:rPr lang="en-IN" sz="2000" dirty="0">
                <a:latin typeface="Times New Roman" panose="02020603050405020304" pitchFamily="18" charset="0"/>
                <a:cs typeface="Times New Roman" panose="02020603050405020304" pitchFamily="18" charset="0"/>
              </a:rPr>
              <a:t> and identify important patterns related to crop productivity and profitability.</a:t>
            </a:r>
          </a:p>
          <a:p>
            <a:r>
              <a:rPr lang="en-IN" sz="2000" dirty="0">
                <a:latin typeface="Times New Roman" panose="02020603050405020304" pitchFamily="18" charset="0"/>
                <a:cs typeface="Times New Roman" panose="02020603050405020304" pitchFamily="18" charset="0"/>
              </a:rPr>
              <a:t>This project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agricultural data to understand the performance of different seasons, crops, irrigation methods and states.</a:t>
            </a:r>
          </a:p>
          <a:p>
            <a:r>
              <a:rPr lang="en-IN" sz="2000" dirty="0">
                <a:latin typeface="Times New Roman" panose="02020603050405020304" pitchFamily="18" charset="0"/>
                <a:cs typeface="Times New Roman" panose="02020603050405020304" pitchFamily="18" charset="0"/>
              </a:rPr>
              <a:t>The dataset contains </a:t>
            </a:r>
            <a:r>
              <a:rPr lang="en-IN" sz="2000" b="1" dirty="0">
                <a:latin typeface="Times New Roman" panose="02020603050405020304" pitchFamily="18" charset="0"/>
                <a:cs typeface="Times New Roman" panose="02020603050405020304" pitchFamily="18" charset="0"/>
              </a:rPr>
              <a:t>4,000 records and 28 columns</a:t>
            </a:r>
            <a:r>
              <a:rPr lang="en-IN" sz="2000" dirty="0">
                <a:latin typeface="Times New Roman" panose="02020603050405020304" pitchFamily="18" charset="0"/>
                <a:cs typeface="Times New Roman" panose="02020603050405020304" pitchFamily="18" charset="0"/>
              </a:rPr>
              <a:t>, including rainfall, soil moisture, water usage, yield, production, revenue and profit.</a:t>
            </a:r>
          </a:p>
          <a:p>
            <a:r>
              <a:rPr lang="en-IN" sz="2000" dirty="0">
                <a:latin typeface="Times New Roman" panose="02020603050405020304" pitchFamily="18" charset="0"/>
                <a:cs typeface="Times New Roman" panose="02020603050405020304" pitchFamily="18" charset="0"/>
              </a:rPr>
              <a:t>Using </a:t>
            </a:r>
            <a:r>
              <a:rPr lang="en-IN" sz="2000" b="1" dirty="0">
                <a:latin typeface="Times New Roman" panose="02020603050405020304" pitchFamily="18" charset="0"/>
                <a:cs typeface="Times New Roman" panose="02020603050405020304" pitchFamily="18" charset="0"/>
              </a:rPr>
              <a:t>Python, Pandas, NumPy, Matplotlib and Seaborn</a:t>
            </a:r>
            <a:r>
              <a:rPr lang="en-IN" sz="2000" dirty="0">
                <a:latin typeface="Times New Roman" panose="02020603050405020304" pitchFamily="18" charset="0"/>
                <a:cs typeface="Times New Roman" panose="02020603050405020304" pitchFamily="18" charset="0"/>
              </a:rPr>
              <a:t>, the data is cleaned,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and visualized to identify important patterns and relationships.</a:t>
            </a:r>
          </a:p>
          <a:p>
            <a:r>
              <a:rPr lang="en-IN" sz="2000" dirty="0">
                <a:latin typeface="Times New Roman" panose="02020603050405020304" pitchFamily="18" charset="0"/>
                <a:cs typeface="Times New Roman" panose="02020603050405020304" pitchFamily="18" charset="0"/>
              </a:rPr>
              <a:t>The main focus is to compare </a:t>
            </a:r>
            <a:r>
              <a:rPr lang="en-IN" sz="2000" b="1" dirty="0">
                <a:latin typeface="Times New Roman" panose="02020603050405020304" pitchFamily="18" charset="0"/>
                <a:cs typeface="Times New Roman" panose="02020603050405020304" pitchFamily="18" charset="0"/>
              </a:rPr>
              <a:t>Kharif, Rabi and Zaid seasons</a:t>
            </a:r>
            <a:r>
              <a:rPr lang="en-IN" sz="2000" dirty="0">
                <a:latin typeface="Times New Roman" panose="02020603050405020304" pitchFamily="18" charset="0"/>
                <a:cs typeface="Times New Roman" panose="02020603050405020304" pitchFamily="18" charset="0"/>
              </a:rPr>
              <a:t> and identify the factors affecting agricultural productivity and profitability.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nodePh="1">
                                  <p:stCondLst>
                                    <p:cond delay="0"/>
                                  </p:stCondLst>
                                  <p:endCondLst>
                                    <p:cond evt="begin" delay="0">
                                      <p:tn val="12"/>
                                    </p:cond>
                                  </p:end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2200" b="1" dirty="0">
                <a:latin typeface="Times New Roman" panose="02020603050405020304" pitchFamily="18" charset="0"/>
                <a:cs typeface="Times New Roman" panose="02020603050405020304" pitchFamily="18" charset="0"/>
              </a:rPr>
              <a:t>Farmers</a:t>
            </a:r>
            <a:r>
              <a:rPr lang="en-IN" sz="2200" dirty="0">
                <a:latin typeface="Times New Roman" panose="02020603050405020304" pitchFamily="18" charset="0"/>
                <a:cs typeface="Times New Roman" panose="02020603050405020304" pitchFamily="18" charset="0"/>
              </a:rPr>
              <a:t> – To understand crop and seasonal performance. </a:t>
            </a:r>
          </a:p>
          <a:p>
            <a:pPr lvl="0"/>
            <a:r>
              <a:rPr lang="en-IN" sz="2200" b="1" dirty="0">
                <a:latin typeface="Times New Roman" panose="02020603050405020304" pitchFamily="18" charset="0"/>
                <a:cs typeface="Times New Roman" panose="02020603050405020304" pitchFamily="18" charset="0"/>
              </a:rPr>
              <a:t>Agricultural Analysts</a:t>
            </a:r>
            <a:r>
              <a:rPr lang="en-IN" sz="2200" dirty="0">
                <a:latin typeface="Times New Roman" panose="02020603050405020304" pitchFamily="18" charset="0"/>
                <a:cs typeface="Times New Roman" panose="02020603050405020304" pitchFamily="18" charset="0"/>
              </a:rPr>
              <a:t> – To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agricultural trends and patterns. </a:t>
            </a:r>
          </a:p>
          <a:p>
            <a:pPr lvl="0"/>
            <a:r>
              <a:rPr lang="en-IN" sz="2200" b="1" dirty="0">
                <a:latin typeface="Times New Roman" panose="02020603050405020304" pitchFamily="18" charset="0"/>
                <a:cs typeface="Times New Roman" panose="02020603050405020304" pitchFamily="18" charset="0"/>
              </a:rPr>
              <a:t>Agricultural Planners</a:t>
            </a:r>
            <a:r>
              <a:rPr lang="en-IN" sz="2200" dirty="0">
                <a:latin typeface="Times New Roman" panose="02020603050405020304" pitchFamily="18" charset="0"/>
                <a:cs typeface="Times New Roman" panose="02020603050405020304" pitchFamily="18" charset="0"/>
              </a:rPr>
              <a:t> – To support planning and decision-making. </a:t>
            </a:r>
          </a:p>
          <a:p>
            <a:pPr lvl="0"/>
            <a:r>
              <a:rPr lang="en-IN" sz="2200" b="1" dirty="0">
                <a:latin typeface="Times New Roman" panose="02020603050405020304" pitchFamily="18" charset="0"/>
                <a:cs typeface="Times New Roman" panose="02020603050405020304" pitchFamily="18" charset="0"/>
              </a:rPr>
              <a:t>Researchers and Students</a:t>
            </a:r>
            <a:r>
              <a:rPr lang="en-IN" sz="2200" dirty="0">
                <a:latin typeface="Times New Roman" panose="02020603050405020304" pitchFamily="18" charset="0"/>
                <a:cs typeface="Times New Roman" panose="02020603050405020304" pitchFamily="18" charset="0"/>
              </a:rPr>
              <a:t> – To study relationships between agricultural variables. </a:t>
            </a:r>
          </a:p>
          <a:p>
            <a:pPr lvl="0"/>
            <a:r>
              <a:rPr lang="en-IN" sz="2200" b="1" dirty="0">
                <a:latin typeface="Times New Roman" panose="02020603050405020304" pitchFamily="18" charset="0"/>
                <a:cs typeface="Times New Roman" panose="02020603050405020304" pitchFamily="18" charset="0"/>
              </a:rPr>
              <a:t>Agribusiness Organizations</a:t>
            </a:r>
            <a:r>
              <a:rPr lang="en-IN" sz="2200" dirty="0">
                <a:latin typeface="Times New Roman" panose="02020603050405020304" pitchFamily="18" charset="0"/>
                <a:cs typeface="Times New Roman" panose="02020603050405020304" pitchFamily="18" charset="0"/>
              </a:rPr>
              <a:t> – To </a:t>
            </a: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crop profitability and regional performance.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For data analysis. </a:t>
            </a:r>
          </a:p>
          <a:p>
            <a:pPr lvl="0"/>
            <a:r>
              <a:rPr lang="en-IN" b="1" dirty="0"/>
              <a:t>Pandas</a:t>
            </a:r>
            <a:r>
              <a:rPr lang="en-IN" dirty="0"/>
              <a:t> – For data manipulation and cleaning. </a:t>
            </a:r>
          </a:p>
          <a:p>
            <a:pPr lvl="0"/>
            <a:r>
              <a:rPr lang="en-IN" b="1" dirty="0"/>
              <a:t>NumPy</a:t>
            </a:r>
            <a:r>
              <a:rPr lang="en-IN" dirty="0"/>
              <a:t> – For numerical operations. </a:t>
            </a:r>
          </a:p>
          <a:p>
            <a:pPr lvl="0"/>
            <a:r>
              <a:rPr lang="en-IN" b="1" dirty="0"/>
              <a:t>Matplotlib</a:t>
            </a:r>
            <a:r>
              <a:rPr lang="en-IN" dirty="0"/>
              <a:t> – For data visualization. </a:t>
            </a:r>
          </a:p>
          <a:p>
            <a:pPr lvl="0"/>
            <a:r>
              <a:rPr lang="en-IN" b="1" dirty="0"/>
              <a:t>Seaborn</a:t>
            </a:r>
            <a:r>
              <a:rPr lang="en-IN" dirty="0"/>
              <a:t> – For statistical and analytical visualizations. </a:t>
            </a:r>
          </a:p>
          <a:p>
            <a:pPr lvl="0"/>
            <a:r>
              <a:rPr lang="en-IN" b="1" dirty="0"/>
              <a:t>Jupyter Notebook / Google </a:t>
            </a:r>
            <a:r>
              <a:rPr lang="en-IN" b="1" dirty="0" err="1"/>
              <a:t>Colab</a:t>
            </a:r>
            <a:r>
              <a:rPr lang="en-IN" dirty="0"/>
              <a:t> – For executing the analysis.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2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3E1E690-53B9-C331-C212-0818D6103129}"/>
              </a:ext>
            </a:extLst>
          </p:cNvPr>
          <p:cNvPicPr>
            <a:picLocks noChangeAspect="1"/>
          </p:cNvPicPr>
          <p:nvPr/>
        </p:nvPicPr>
        <p:blipFill>
          <a:blip r:embed="rId3"/>
          <a:stretch>
            <a:fillRect/>
          </a:stretch>
        </p:blipFill>
        <p:spPr>
          <a:xfrm>
            <a:off x="474371" y="1777124"/>
            <a:ext cx="3871323" cy="2841529"/>
          </a:xfrm>
          <a:prstGeom prst="rect">
            <a:avLst/>
          </a:prstGeom>
        </p:spPr>
      </p:pic>
      <p:pic>
        <p:nvPicPr>
          <p:cNvPr id="9" name="Picture 8">
            <a:extLst>
              <a:ext uri="{FF2B5EF4-FFF2-40B4-BE49-F238E27FC236}">
                <a16:creationId xmlns:a16="http://schemas.microsoft.com/office/drawing/2014/main" id="{DD6DC96E-993B-E846-2899-22816FFDDB1B}"/>
              </a:ext>
            </a:extLst>
          </p:cNvPr>
          <p:cNvPicPr>
            <a:picLocks noChangeAspect="1"/>
          </p:cNvPicPr>
          <p:nvPr/>
        </p:nvPicPr>
        <p:blipFill>
          <a:blip r:embed="rId4"/>
          <a:stretch>
            <a:fillRect/>
          </a:stretch>
        </p:blipFill>
        <p:spPr>
          <a:xfrm>
            <a:off x="5026845" y="1777124"/>
            <a:ext cx="4087359" cy="279510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2800" dirty="0">
                <a:latin typeface="Times New Roman" panose="02020603050405020304" pitchFamily="18" charset="0"/>
                <a:cs typeface="Times New Roman" panose="02020603050405020304" pitchFamily="18" charset="0"/>
              </a:rPr>
              <a:t>RESULTS </a:t>
            </a: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77DE7C2-36AE-CE77-A3D2-B1A09031C873}"/>
              </a:ext>
            </a:extLst>
          </p:cNvPr>
          <p:cNvPicPr>
            <a:picLocks noChangeAspect="1"/>
          </p:cNvPicPr>
          <p:nvPr/>
        </p:nvPicPr>
        <p:blipFill>
          <a:blip r:embed="rId3"/>
          <a:stretch>
            <a:fillRect/>
          </a:stretch>
        </p:blipFill>
        <p:spPr>
          <a:xfrm>
            <a:off x="1992762" y="1608410"/>
            <a:ext cx="5956920" cy="477372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2800" dirty="0">
                <a:latin typeface="Times New Roman" panose="02020603050405020304" pitchFamily="18" charset="0"/>
                <a:cs typeface="Times New Roman" panose="02020603050405020304" pitchFamily="18" charset="0"/>
              </a:rPr>
              <a:t>RESULTS </a:t>
            </a: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6" name="Picture 15">
            <a:extLst>
              <a:ext uri="{FF2B5EF4-FFF2-40B4-BE49-F238E27FC236}">
                <a16:creationId xmlns:a16="http://schemas.microsoft.com/office/drawing/2014/main" id="{A9A6CF41-CDF0-7B1D-098C-5A431512FD75}"/>
              </a:ext>
            </a:extLst>
          </p:cNvPr>
          <p:cNvPicPr>
            <a:picLocks noChangeAspect="1"/>
          </p:cNvPicPr>
          <p:nvPr/>
        </p:nvPicPr>
        <p:blipFill>
          <a:blip r:embed="rId3"/>
          <a:stretch>
            <a:fillRect/>
          </a:stretch>
        </p:blipFill>
        <p:spPr>
          <a:xfrm>
            <a:off x="675957" y="2138271"/>
            <a:ext cx="2951613" cy="2424399"/>
          </a:xfrm>
          <a:prstGeom prst="rect">
            <a:avLst/>
          </a:prstGeom>
        </p:spPr>
      </p:pic>
      <p:pic>
        <p:nvPicPr>
          <p:cNvPr id="22" name="Picture 21">
            <a:extLst>
              <a:ext uri="{FF2B5EF4-FFF2-40B4-BE49-F238E27FC236}">
                <a16:creationId xmlns:a16="http://schemas.microsoft.com/office/drawing/2014/main" id="{1C2D729A-CAF6-6073-243A-CD703439D502}"/>
              </a:ext>
            </a:extLst>
          </p:cNvPr>
          <p:cNvPicPr>
            <a:picLocks noChangeAspect="1"/>
          </p:cNvPicPr>
          <p:nvPr/>
        </p:nvPicPr>
        <p:blipFill>
          <a:blip r:embed="rId4"/>
          <a:stretch>
            <a:fillRect/>
          </a:stretch>
        </p:blipFill>
        <p:spPr>
          <a:xfrm>
            <a:off x="4345694" y="2042936"/>
            <a:ext cx="5069266" cy="277212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28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DB4F0593-2A9B-25EA-67BA-B3D4881A32EE}"/>
              </a:ext>
            </a:extLst>
          </p:cNvPr>
          <p:cNvPicPr>
            <a:picLocks noChangeAspect="1"/>
          </p:cNvPicPr>
          <p:nvPr/>
        </p:nvPicPr>
        <p:blipFill>
          <a:blip r:embed="rId3"/>
          <a:stretch>
            <a:fillRect/>
          </a:stretch>
        </p:blipFill>
        <p:spPr>
          <a:xfrm>
            <a:off x="1410998" y="1608410"/>
            <a:ext cx="7290846" cy="465934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2800" dirty="0">
                <a:latin typeface="Times New Roman" panose="02020603050405020304" pitchFamily="18" charset="0"/>
                <a:cs typeface="Times New Roman" panose="02020603050405020304" pitchFamily="18" charset="0"/>
              </a:rPr>
              <a:t>RESULTS </a:t>
            </a: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D011AB32-F60E-6F0F-0AB5-71CB03070455}"/>
              </a:ext>
            </a:extLst>
          </p:cNvPr>
          <p:cNvPicPr>
            <a:picLocks noChangeAspect="1"/>
          </p:cNvPicPr>
          <p:nvPr/>
        </p:nvPicPr>
        <p:blipFill>
          <a:blip r:embed="rId3"/>
          <a:stretch>
            <a:fillRect/>
          </a:stretch>
        </p:blipFill>
        <p:spPr>
          <a:xfrm>
            <a:off x="573755" y="1941449"/>
            <a:ext cx="3575996" cy="2460753"/>
          </a:xfrm>
          <a:prstGeom prst="rect">
            <a:avLst/>
          </a:prstGeom>
        </p:spPr>
      </p:pic>
      <p:pic>
        <p:nvPicPr>
          <p:cNvPr id="14" name="Picture 13">
            <a:extLst>
              <a:ext uri="{FF2B5EF4-FFF2-40B4-BE49-F238E27FC236}">
                <a16:creationId xmlns:a16="http://schemas.microsoft.com/office/drawing/2014/main" id="{A8B819BA-EDCB-9211-9118-CECD78BDBF29}"/>
              </a:ext>
            </a:extLst>
          </p:cNvPr>
          <p:cNvPicPr>
            <a:picLocks noChangeAspect="1"/>
          </p:cNvPicPr>
          <p:nvPr/>
        </p:nvPicPr>
        <p:blipFill>
          <a:blip r:embed="rId4"/>
          <a:stretch>
            <a:fillRect/>
          </a:stretch>
        </p:blipFill>
        <p:spPr>
          <a:xfrm>
            <a:off x="4530322" y="1739531"/>
            <a:ext cx="4314378" cy="286458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998375" y="777413"/>
            <a:ext cx="4735798" cy="830997"/>
          </a:xfrm>
        </p:spPr>
        <p:txBody>
          <a:bodyPr>
            <a:normAutofit/>
          </a:bodyPr>
          <a:lstStyle/>
          <a:p>
            <a:r>
              <a:rPr lang="en-IN" sz="2800" dirty="0">
                <a:latin typeface="Times New Roman" panose="02020603050405020304" pitchFamily="18" charset="0"/>
                <a:cs typeface="Times New Roman" panose="02020603050405020304" pitchFamily="18" charset="0"/>
              </a:rPr>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6472A5D7-638B-6793-2DC8-A0D176CF8CBC}"/>
              </a:ext>
            </a:extLst>
          </p:cNvPr>
          <p:cNvSpPr txBox="1"/>
          <p:nvPr/>
        </p:nvSpPr>
        <p:spPr>
          <a:xfrm>
            <a:off x="998375" y="1941449"/>
            <a:ext cx="6102220" cy="2554545"/>
          </a:xfrm>
          <a:prstGeom prst="rect">
            <a:avLst/>
          </a:prstGeom>
          <a:noFill/>
        </p:spPr>
        <p:txBody>
          <a:bodyPr wrap="square">
            <a:spAutoFit/>
          </a:bodyPr>
          <a:lstStyle/>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Crop Yield Prediction</a:t>
            </a:r>
            <a:r>
              <a:rPr lang="en-IN" sz="2000" dirty="0">
                <a:latin typeface="Times New Roman" panose="02020603050405020304" pitchFamily="18" charset="0"/>
                <a:cs typeface="Times New Roman" panose="02020603050405020304" pitchFamily="18" charset="0"/>
              </a:rPr>
              <a:t> using Machine Learning.</a:t>
            </a:r>
          </a:p>
          <a:p>
            <a:pPr marL="342900" lvl="0"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Profit and Revenue Prediction</a:t>
            </a:r>
            <a:r>
              <a:rPr lang="en-IN" sz="2000" dirty="0">
                <a:latin typeface="Times New Roman" panose="02020603050405020304" pitchFamily="18" charset="0"/>
                <a:cs typeface="Times New Roman" panose="02020603050405020304" pitchFamily="18" charset="0"/>
              </a:rPr>
              <a:t> for future seasons.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 </a:t>
            </a:r>
            <a:r>
              <a:rPr lang="en-IN" sz="2000" b="1" dirty="0">
                <a:latin typeface="Times New Roman" panose="02020603050405020304" pitchFamily="18" charset="0"/>
                <a:cs typeface="Times New Roman" panose="02020603050405020304" pitchFamily="18" charset="0"/>
              </a:rPr>
              <a:t>more years of agricultural data</a:t>
            </a:r>
            <a:r>
              <a:rPr lang="en-IN" sz="2000" dirty="0">
                <a:latin typeface="Times New Roman" panose="02020603050405020304" pitchFamily="18" charset="0"/>
                <a:cs typeface="Times New Roman" panose="02020603050405020304" pitchFamily="18" charset="0"/>
              </a:rPr>
              <a:t> for better analysis.</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Include </a:t>
            </a:r>
            <a:r>
              <a:rPr lang="en-IN" sz="2000" b="1" dirty="0">
                <a:latin typeface="Times New Roman" panose="02020603050405020304" pitchFamily="18" charset="0"/>
                <a:cs typeface="Times New Roman" panose="02020603050405020304" pitchFamily="18" charset="0"/>
              </a:rPr>
              <a:t>weather and market price data</a:t>
            </a:r>
            <a:r>
              <a:rPr lang="en-IN" sz="20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an </a:t>
            </a:r>
            <a:r>
              <a:rPr lang="en-IN" sz="2000" b="1" dirty="0">
                <a:latin typeface="Times New Roman" panose="02020603050405020304" pitchFamily="18" charset="0"/>
                <a:cs typeface="Times New Roman" panose="02020603050405020304" pitchFamily="18" charset="0"/>
              </a:rPr>
              <a:t>interactive agricultural dashboard</a:t>
            </a:r>
            <a:r>
              <a:rPr lang="en-IN" sz="20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 </a:t>
            </a:r>
            <a:r>
              <a:rPr lang="en-IN" sz="2000" b="1" dirty="0">
                <a:latin typeface="Times New Roman" panose="02020603050405020304" pitchFamily="18" charset="0"/>
                <a:cs typeface="Times New Roman" panose="02020603050405020304" pitchFamily="18" charset="0"/>
              </a:rPr>
              <a:t>crop and season recommendations</a:t>
            </a:r>
            <a:r>
              <a:rPr lang="en-IN" sz="2000" dirty="0">
                <a:latin typeface="Times New Roman" panose="02020603050405020304" pitchFamily="18" charset="0"/>
                <a:cs typeface="Times New Roman" panose="02020603050405020304" pitchFamily="18" charset="0"/>
              </a:rPr>
              <a:t> based on data analysis.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28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1E958B38-9E3B-2B24-A15D-6ADE73881F7E}"/>
              </a:ext>
            </a:extLst>
          </p:cNvPr>
          <p:cNvSpPr txBox="1"/>
          <p:nvPr/>
        </p:nvSpPr>
        <p:spPr>
          <a:xfrm>
            <a:off x="774441" y="1822875"/>
            <a:ext cx="6102220" cy="646331"/>
          </a:xfrm>
          <a:prstGeom prst="rect">
            <a:avLst/>
          </a:prstGeom>
          <a:noFill/>
        </p:spPr>
        <p:txBody>
          <a:bodyPr wrap="square">
            <a:spAutoFit/>
          </a:bodyPr>
          <a:lstStyle/>
          <a:p>
            <a:r>
              <a:rPr lang="en-IN" dirty="0"/>
              <a:t>https://github.com/siddh17021505/Seasonal-Agricultural-Performance-Analysis.git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E74114-1088-BB40-1725-646B461B029C}"/>
              </a:ext>
            </a:extLst>
          </p:cNvPr>
          <p:cNvPicPr>
            <a:picLocks noChangeAspect="1"/>
          </p:cNvPicPr>
          <p:nvPr/>
        </p:nvPicPr>
        <p:blipFill>
          <a:blip r:embed="rId3"/>
          <a:stretch>
            <a:fillRect/>
          </a:stretch>
        </p:blipFill>
        <p:spPr>
          <a:xfrm>
            <a:off x="1644944" y="1515304"/>
            <a:ext cx="6911337" cy="495661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br>
              <a:rPr lang="en-US" sz="4800" b="1" dirty="0">
                <a:solidFill>
                  <a:schemeClr val="tx1"/>
                </a:solidFill>
              </a:rPr>
            </a:br>
            <a:br>
              <a:rPr lang="en-US" sz="4800" b="1" dirty="0">
                <a:solidFill>
                  <a:schemeClr val="tx1"/>
                </a:solidFill>
              </a:rPr>
            </a:br>
            <a:br>
              <a:rPr lang="en-US" sz="4800" b="1" dirty="0">
                <a:solidFill>
                  <a:schemeClr val="tx1"/>
                </a:solidFill>
              </a:rPr>
            </a:br>
            <a:br>
              <a:rPr lang="en-US" sz="4800" b="1" dirty="0">
                <a:solidFill>
                  <a:schemeClr val="tx1"/>
                </a:solidFill>
              </a:rPr>
            </a:br>
            <a:r>
              <a:rPr lang="en-US" sz="4800" b="1" dirty="0">
                <a:solidFill>
                  <a:schemeClr val="tx1"/>
                </a:solidFill>
              </a:rPr>
              <a:t>   </a:t>
            </a:r>
            <a:br>
              <a:rPr lang="en-US" sz="4800" b="1" dirty="0">
                <a:solidFill>
                  <a:schemeClr val="tx1"/>
                </a:solidFill>
              </a:rPr>
            </a:br>
            <a:br>
              <a:rPr lang="en-US" sz="4800" b="1" dirty="0">
                <a:solidFill>
                  <a:schemeClr val="tx1"/>
                </a:solidFill>
              </a:rPr>
            </a:br>
            <a:br>
              <a:rPr lang="en-US" sz="4800" b="1" dirty="0">
                <a:solidFill>
                  <a:schemeClr val="tx1"/>
                </a:solidFill>
              </a:rPr>
            </a:br>
            <a:r>
              <a:rPr lang="en-US" sz="4800" b="1" dirty="0">
                <a:solidFill>
                  <a:schemeClr val="tx1"/>
                </a:solidFill>
              </a:rPr>
              <a:t>Thank you   </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1398</TotalTime>
  <Words>450</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Sakshi Sonar</cp:lastModifiedBy>
  <cp:revision>99</cp:revision>
  <dcterms:created xsi:type="dcterms:W3CDTF">2021-07-11T13:13:15Z</dcterms:created>
  <dcterms:modified xsi:type="dcterms:W3CDTF">2026-09-08T18:27:52Z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